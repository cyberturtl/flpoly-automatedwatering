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65760"/>
            <a:ext cx="164592" cy="164592"/>
          </a:xfrm>
          <a:prstGeom prst="ellipse">
            <a:avLst/>
          </a:prstGeom>
          <a:solidFill>
            <a:srgbClr val="1B998B">
              <a:alpha val="40000"/>
            </a:srgbClr>
          </a:solidFill>
          <a:ln w="12700">
            <a:solidFill>
              <a:srgbClr val="1B998B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365760"/>
            <a:ext cx="164592" cy="164592"/>
          </a:xfrm>
          <a:prstGeom prst="ellipse">
            <a:avLst/>
          </a:prstGeom>
          <a:solidFill>
            <a:srgbClr val="1B998B">
              <a:alpha val="40000"/>
            </a:srgbClr>
          </a:solidFill>
          <a:ln w="12700">
            <a:solidFill>
              <a:srgbClr val="1B998B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365760"/>
            <a:ext cx="164592" cy="164592"/>
          </a:xfrm>
          <a:prstGeom prst="ellipse">
            <a:avLst/>
          </a:prstGeom>
          <a:solidFill>
            <a:srgbClr val="1B998B">
              <a:alpha val="40000"/>
            </a:srgbClr>
          </a:solidFill>
          <a:ln w="12700">
            <a:solidFill>
              <a:srgbClr val="1B998B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868680"/>
            <a:ext cx="164592" cy="164592"/>
          </a:xfrm>
          <a:prstGeom prst="ellipse">
            <a:avLst/>
          </a:prstGeom>
          <a:solidFill>
            <a:srgbClr val="1B998B">
              <a:alpha val="40000"/>
            </a:srgbClr>
          </a:solidFill>
          <a:ln w="12700">
            <a:solidFill>
              <a:srgbClr val="1B998B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75320" y="868680"/>
            <a:ext cx="164592" cy="164592"/>
          </a:xfrm>
          <a:prstGeom prst="ellipse">
            <a:avLst/>
          </a:prstGeom>
          <a:solidFill>
            <a:srgbClr val="1B998B">
              <a:alpha val="40000"/>
            </a:srgbClr>
          </a:solidFill>
          <a:ln w="12700">
            <a:solidFill>
              <a:srgbClr val="1B998B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868680"/>
            <a:ext cx="164592" cy="164592"/>
          </a:xfrm>
          <a:prstGeom prst="ellipse">
            <a:avLst/>
          </a:prstGeom>
          <a:solidFill>
            <a:srgbClr val="1B998B">
              <a:alpha val="40000"/>
            </a:srgbClr>
          </a:solidFill>
          <a:ln w="12700">
            <a:solidFill>
              <a:srgbClr val="1B998B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0" y="1188720"/>
            <a:ext cx="109728" cy="109728"/>
          </a:xfrm>
          <a:prstGeom prst="ellipse">
            <a:avLst/>
          </a:prstGeom>
          <a:solidFill>
            <a:srgbClr val="2EC4B6">
              <a:alpha val="25000"/>
            </a:srgbClr>
          </a:solidFill>
          <a:ln w="12700">
            <a:solidFill>
              <a:srgbClr val="2EC4B6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35240" y="1188720"/>
            <a:ext cx="109728" cy="109728"/>
          </a:xfrm>
          <a:prstGeom prst="ellipse">
            <a:avLst/>
          </a:prstGeom>
          <a:solidFill>
            <a:srgbClr val="2EC4B6">
              <a:alpha val="25000"/>
            </a:srgbClr>
          </a:solidFill>
          <a:ln w="12700">
            <a:solidFill>
              <a:srgbClr val="2EC4B6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38160" y="1188720"/>
            <a:ext cx="109728" cy="109728"/>
          </a:xfrm>
          <a:prstGeom prst="ellipse">
            <a:avLst/>
          </a:prstGeom>
          <a:solidFill>
            <a:srgbClr val="2EC4B6">
              <a:alpha val="25000"/>
            </a:srgbClr>
          </a:solidFill>
          <a:ln w="12700">
            <a:solidFill>
              <a:srgbClr val="2EC4B6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0" y="1691640"/>
            <a:ext cx="109728" cy="109728"/>
          </a:xfrm>
          <a:prstGeom prst="ellipse">
            <a:avLst/>
          </a:prstGeom>
          <a:solidFill>
            <a:srgbClr val="2EC4B6">
              <a:alpha val="25000"/>
            </a:srgbClr>
          </a:solidFill>
          <a:ln w="12700">
            <a:solidFill>
              <a:srgbClr val="2EC4B6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35240" y="1691640"/>
            <a:ext cx="109728" cy="109728"/>
          </a:xfrm>
          <a:prstGeom prst="ellipse">
            <a:avLst/>
          </a:prstGeom>
          <a:solidFill>
            <a:srgbClr val="2EC4B6">
              <a:alpha val="25000"/>
            </a:srgbClr>
          </a:solidFill>
          <a:ln w="12700">
            <a:solidFill>
              <a:srgbClr val="2EC4B6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691640"/>
            <a:ext cx="109728" cy="109728"/>
          </a:xfrm>
          <a:prstGeom prst="ellipse">
            <a:avLst/>
          </a:prstGeom>
          <a:solidFill>
            <a:srgbClr val="2EC4B6">
              <a:alpha val="25000"/>
            </a:srgbClr>
          </a:solidFill>
          <a:ln w="12700">
            <a:solidFill>
              <a:srgbClr val="2EC4B6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0" y="2194560"/>
            <a:ext cx="109728" cy="109728"/>
          </a:xfrm>
          <a:prstGeom prst="ellipse">
            <a:avLst/>
          </a:prstGeom>
          <a:solidFill>
            <a:srgbClr val="2EC4B6">
              <a:alpha val="25000"/>
            </a:srgbClr>
          </a:solidFill>
          <a:ln w="12700">
            <a:solidFill>
              <a:srgbClr val="2EC4B6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35240" y="2194560"/>
            <a:ext cx="109728" cy="109728"/>
          </a:xfrm>
          <a:prstGeom prst="ellipse">
            <a:avLst/>
          </a:prstGeom>
          <a:solidFill>
            <a:srgbClr val="2EC4B6">
              <a:alpha val="25000"/>
            </a:srgbClr>
          </a:solidFill>
          <a:ln w="12700">
            <a:solidFill>
              <a:srgbClr val="2EC4B6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2194560"/>
            <a:ext cx="109728" cy="109728"/>
          </a:xfrm>
          <a:prstGeom prst="ellipse">
            <a:avLst/>
          </a:prstGeom>
          <a:solidFill>
            <a:srgbClr val="2EC4B6">
              <a:alpha val="25000"/>
            </a:srgbClr>
          </a:solidFill>
          <a:ln w="12700">
            <a:solidFill>
              <a:srgbClr val="2EC4B6">
                <a:alpha val="25000"/>
              </a:srgbClr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7132320" y="2651760"/>
            <a:ext cx="1463040" cy="14630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11480" y="118872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Irrigation System</a:t>
            </a:r>
            <a:endParaRPr lang="en-US" sz="4000" dirty="0"/>
          </a:p>
        </p:txBody>
      </p:sp>
      <p:sp>
        <p:nvSpPr>
          <p:cNvPr id="20" name="Shape 17"/>
          <p:cNvSpPr/>
          <p:nvPr/>
        </p:nvSpPr>
        <p:spPr>
          <a:xfrm>
            <a:off x="411480" y="2304288"/>
            <a:ext cx="5943600" cy="54864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1480" y="24688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 Nucleo F446RE  ·  Embedded Systems Final Project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11480" y="3108960"/>
            <a:ext cx="1965960" cy="347472"/>
          </a:xfrm>
          <a:prstGeom prst="roundRect">
            <a:avLst>
              <a:gd name="adj" fmla="val 13158"/>
            </a:avLst>
          </a:prstGeom>
          <a:solidFill>
            <a:srgbClr val="2D3748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" y="310896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Capacitive Sensing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532888" y="3108960"/>
            <a:ext cx="1965960" cy="347472"/>
          </a:xfrm>
          <a:prstGeom prst="roundRect">
            <a:avLst>
              <a:gd name="adj" fmla="val 13158"/>
            </a:avLst>
          </a:prstGeom>
          <a:solidFill>
            <a:srgbClr val="2D3748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32888" y="310896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 Drivers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654296" y="3108960"/>
            <a:ext cx="1965960" cy="347472"/>
          </a:xfrm>
          <a:prstGeom prst="roundRect">
            <a:avLst>
              <a:gd name="adj" fmla="val 13158"/>
            </a:avLst>
          </a:prstGeom>
          <a:solidFill>
            <a:srgbClr val="2D3748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54296" y="310896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Interrupt-Driven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11480" y="3611880"/>
            <a:ext cx="1965960" cy="347472"/>
          </a:xfrm>
          <a:prstGeom prst="roundRect">
            <a:avLst>
              <a:gd name="adj" fmla="val 13158"/>
            </a:avLst>
          </a:prstGeom>
          <a:solidFill>
            <a:srgbClr val="2D3748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11480" y="361188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LCD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532888" y="3611880"/>
            <a:ext cx="1965960" cy="347472"/>
          </a:xfrm>
          <a:prstGeom prst="roundRect">
            <a:avLst>
              <a:gd name="adj" fmla="val 13158"/>
            </a:avLst>
          </a:prstGeom>
          <a:solidFill>
            <a:srgbClr val="2D3748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532888" y="361188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Monitor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023360" cy="54864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irrigation is unreliable and labour-intensive. Overwatering wastes resources; underwatering stresses plants. A smarter, automatic system is needed.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91440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914400"/>
            <a:ext cx="4023360" cy="54864"/>
          </a:xfrm>
          <a:prstGeom prst="rect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50876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monitor soil moisture via a capacitive sensor and automatically engage a 12V pump when moisture drops below a calibrated threshold — with live feedback on an LCD and serial terminal.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Components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2743200" cy="1737360"/>
          </a:xfrm>
          <a:prstGeom prst="rect">
            <a:avLst/>
          </a:prstGeom>
          <a:solidFill>
            <a:srgbClr val="132233"/>
          </a:solidFill>
          <a:ln w="19050">
            <a:solidFill>
              <a:srgbClr val="1B99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29844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4128" y="117043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STM32 Nucleo F446RE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24128" y="157276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MHz Cortex-M4 MCU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218688" y="914400"/>
            <a:ext cx="2743200" cy="1737360"/>
          </a:xfrm>
          <a:prstGeom prst="rect">
            <a:avLst/>
          </a:prstGeom>
          <a:solidFill>
            <a:srgbClr val="132233"/>
          </a:solidFill>
          <a:ln w="1905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298448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68496" y="117043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Capacitive Soil Sensor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968496" y="157276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out → PA0 (ADC1)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163056" y="914400"/>
            <a:ext cx="2743200" cy="1737360"/>
          </a:xfrm>
          <a:prstGeom prst="rect">
            <a:avLst/>
          </a:prstGeom>
          <a:solidFill>
            <a:srgbClr val="132233"/>
          </a:solidFill>
          <a:ln w="19050">
            <a:solidFill>
              <a:srgbClr val="F6AE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298448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12864" y="117043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Relay Module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912864" y="157276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coil, controls 12V pump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274320" y="2907792"/>
            <a:ext cx="2743200" cy="1737360"/>
          </a:xfrm>
          <a:prstGeom prst="rect">
            <a:avLst/>
          </a:prstGeom>
          <a:solidFill>
            <a:srgbClr val="132233"/>
          </a:solidFill>
          <a:ln w="19050">
            <a:solidFill>
              <a:srgbClr val="48BB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291840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24128" y="316382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LCD1602 (4-bit)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1024128" y="356616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8B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PB4–PB9, real-time display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3218688" y="2907792"/>
            <a:ext cx="2743200" cy="1737360"/>
          </a:xfrm>
          <a:prstGeom prst="rect">
            <a:avLst/>
          </a:prstGeom>
          <a:solidFill>
            <a:srgbClr val="132233"/>
          </a:solidFill>
          <a:ln w="19050">
            <a:solidFill>
              <a:srgbClr val="FC81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291840"/>
            <a:ext cx="502920" cy="5029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968496" y="316382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Override Button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3968496" y="356616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C8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PA4, EXTI4, active-LOW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6163056" y="2907792"/>
            <a:ext cx="2743200" cy="1737360"/>
          </a:xfrm>
          <a:prstGeom prst="rect">
            <a:avLst/>
          </a:prstGeom>
          <a:solidFill>
            <a:srgbClr val="132233"/>
          </a:solidFill>
          <a:ln w="1905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3291840"/>
            <a:ext cx="502920" cy="5029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912864" y="316382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UART Serial Monitor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6912864" y="356616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115200 baud → PuTTY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Wiring &amp; Pin Mapping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188720" cy="34747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686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63040" y="868680"/>
            <a:ext cx="2011680" cy="34747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8686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868680"/>
            <a:ext cx="2286000" cy="34747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8686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Connected To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60720" y="868680"/>
            <a:ext cx="2560320" cy="34747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8686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216152"/>
            <a:ext cx="1188720" cy="420624"/>
          </a:xfrm>
          <a:prstGeom prst="rect">
            <a:avLst/>
          </a:prstGeom>
          <a:solidFill>
            <a:srgbClr val="EBF4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21615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463040" y="1216152"/>
            <a:ext cx="2011680" cy="420624"/>
          </a:xfrm>
          <a:prstGeom prst="rect">
            <a:avLst/>
          </a:prstGeom>
          <a:solidFill>
            <a:srgbClr val="EBF4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1216152"/>
            <a:ext cx="2011680" cy="4206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ADC1_IN0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0" y="1216152"/>
            <a:ext cx="2286000" cy="420624"/>
          </a:xfrm>
          <a:prstGeom prst="rect">
            <a:avLst/>
          </a:prstGeom>
          <a:solidFill>
            <a:srgbClr val="EBF4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216152"/>
            <a:ext cx="2286000" cy="4206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AOUT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60720" y="1216152"/>
            <a:ext cx="2560320" cy="420624"/>
          </a:xfrm>
          <a:prstGeom prst="rect">
            <a:avLst/>
          </a:prstGeom>
          <a:solidFill>
            <a:srgbClr val="EBF4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1216152"/>
            <a:ext cx="2560320" cy="4206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Input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1691640"/>
            <a:ext cx="11887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169164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463040" y="1691640"/>
            <a:ext cx="2011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63040" y="1691640"/>
            <a:ext cx="2011680" cy="4206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74720" y="1691640"/>
            <a:ext cx="22860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1691640"/>
            <a:ext cx="2286000" cy="4206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module IN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760720" y="1691640"/>
            <a:ext cx="2560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1691640"/>
            <a:ext cx="2560320" cy="4206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Output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2167128"/>
            <a:ext cx="1188720" cy="420624"/>
          </a:xfrm>
          <a:prstGeom prst="rect">
            <a:avLst/>
          </a:prstGeom>
          <a:solidFill>
            <a:srgbClr val="EBF4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216712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463040" y="2167128"/>
            <a:ext cx="2011680" cy="420624"/>
          </a:xfrm>
          <a:prstGeom prst="rect">
            <a:avLst/>
          </a:prstGeom>
          <a:solidFill>
            <a:srgbClr val="EBF4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63040" y="2167128"/>
            <a:ext cx="2011680" cy="4206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74720" y="2167128"/>
            <a:ext cx="2286000" cy="420624"/>
          </a:xfrm>
          <a:prstGeom prst="rect">
            <a:avLst/>
          </a:prstGeom>
          <a:solidFill>
            <a:srgbClr val="EBF4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0" y="2167128"/>
            <a:ext cx="2286000" cy="4206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Breadboard BTN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760720" y="2167128"/>
            <a:ext cx="2560320" cy="420624"/>
          </a:xfrm>
          <a:prstGeom prst="rect">
            <a:avLst/>
          </a:prstGeom>
          <a:solidFill>
            <a:srgbClr val="EBF4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0" y="2167128"/>
            <a:ext cx="2560320" cy="4206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EXTI4 pull-up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2642616"/>
            <a:ext cx="11887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264261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PB4–PB7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463040" y="2642616"/>
            <a:ext cx="2011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63040" y="2642616"/>
            <a:ext cx="2011680" cy="4206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D4–D7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474720" y="2642616"/>
            <a:ext cx="22860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0" y="2642616"/>
            <a:ext cx="2286000" cy="4206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data pins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760720" y="2642616"/>
            <a:ext cx="2560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0" y="2642616"/>
            <a:ext cx="2560320" cy="4206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Output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3118104"/>
            <a:ext cx="1188720" cy="420624"/>
          </a:xfrm>
          <a:prstGeom prst="rect">
            <a:avLst/>
          </a:prstGeom>
          <a:solidFill>
            <a:srgbClr val="EBF4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311810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PB8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463040" y="3118104"/>
            <a:ext cx="2011680" cy="420624"/>
          </a:xfrm>
          <a:prstGeom prst="rect">
            <a:avLst/>
          </a:prstGeom>
          <a:solidFill>
            <a:srgbClr val="EBF4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63040" y="3118104"/>
            <a:ext cx="2011680" cy="4206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RS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474720" y="3118104"/>
            <a:ext cx="2286000" cy="420624"/>
          </a:xfrm>
          <a:prstGeom prst="rect">
            <a:avLst/>
          </a:prstGeom>
          <a:solidFill>
            <a:srgbClr val="EBF4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0" y="3118104"/>
            <a:ext cx="2286000" cy="4206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RS pin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760720" y="3118104"/>
            <a:ext cx="2560320" cy="420624"/>
          </a:xfrm>
          <a:prstGeom prst="rect">
            <a:avLst/>
          </a:prstGeom>
          <a:solidFill>
            <a:srgbClr val="EBF4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60720" y="3118104"/>
            <a:ext cx="2560320" cy="4206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Output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74320" y="3593592"/>
            <a:ext cx="11887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359359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PB9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1463040" y="3593592"/>
            <a:ext cx="2011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463040" y="3593592"/>
            <a:ext cx="2011680" cy="4206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EN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474720" y="3593592"/>
            <a:ext cx="22860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74720" y="3593592"/>
            <a:ext cx="2286000" cy="4206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EN pin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760720" y="3593592"/>
            <a:ext cx="25603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60720" y="3593592"/>
            <a:ext cx="2560320" cy="4206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Output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74320" y="4069080"/>
            <a:ext cx="1188720" cy="420624"/>
          </a:xfrm>
          <a:prstGeom prst="rect">
            <a:avLst/>
          </a:prstGeom>
          <a:solidFill>
            <a:srgbClr val="EBF4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406908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PA2/PA3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1463040" y="4069080"/>
            <a:ext cx="2011680" cy="420624"/>
          </a:xfrm>
          <a:prstGeom prst="rect">
            <a:avLst/>
          </a:prstGeom>
          <a:solidFill>
            <a:srgbClr val="EBF4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463040" y="4069080"/>
            <a:ext cx="2011680" cy="4206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UART2 TX/RX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474720" y="4069080"/>
            <a:ext cx="2286000" cy="420624"/>
          </a:xfrm>
          <a:prstGeom prst="rect">
            <a:avLst/>
          </a:prstGeom>
          <a:solidFill>
            <a:srgbClr val="EBF4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474720" y="4069080"/>
            <a:ext cx="2286000" cy="4206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ST-Link → PC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760720" y="4069080"/>
            <a:ext cx="2560320" cy="420624"/>
          </a:xfrm>
          <a:prstGeom prst="rect">
            <a:avLst/>
          </a:prstGeom>
          <a:solidFill>
            <a:srgbClr val="EBF4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760720" y="4069080"/>
            <a:ext cx="2560320" cy="4206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115200 baud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5669280" y="868680"/>
            <a:ext cx="3246120" cy="2103120"/>
          </a:xfrm>
          <a:prstGeom prst="rect">
            <a:avLst/>
          </a:prstGeom>
          <a:solidFill>
            <a:srgbClr val="0D1B2A"/>
          </a:solidFill>
          <a:ln w="19050">
            <a:solidFill>
              <a:srgbClr val="1B99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5806440" y="960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99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Rails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5806440" y="135331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VCC → Nucleo 3.3V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5806440" y="174650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coil → External 5V PSU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5806440" y="213969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→ External 12V PSU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5806440" y="253288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GNDs tied to common rail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274320" y="466344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common ground between all power supplies is critical for signal integrity.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Firmware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Interrupt-driven event queue — ISR sets flags, main loop processes them in order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28600" y="1143000"/>
            <a:ext cx="1572768" cy="1325880"/>
          </a:xfrm>
          <a:prstGeom prst="rect">
            <a:avLst/>
          </a:prstGeom>
          <a:solidFill>
            <a:srgbClr val="132233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207008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TIM2 ISR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(every 200ms)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1828800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doAdcRead flag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801368" y="1801368"/>
            <a:ext cx="164592" cy="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65960" y="1143000"/>
            <a:ext cx="1572768" cy="1325880"/>
          </a:xfrm>
          <a:prstGeom prst="rect">
            <a:avLst/>
          </a:prstGeom>
          <a:solidFill>
            <a:srgbClr val="132233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1207008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ADC Sample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65960" y="1828800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12-bit, 480-cycle sample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538728" y="1801368"/>
            <a:ext cx="164592" cy="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03320" y="1143000"/>
            <a:ext cx="1572768" cy="1325880"/>
          </a:xfrm>
          <a:prstGeom prst="rect">
            <a:avLst/>
          </a:prstGeom>
          <a:solidFill>
            <a:srgbClr val="132233"/>
          </a:solidFill>
          <a:ln w="19050">
            <a:solidFill>
              <a:srgbClr val="F6AE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1207008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6A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Relay Eval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6A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App_EvaluateRelay()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03320" y="1828800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check + counter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276088" y="1801368"/>
            <a:ext cx="164592" cy="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40680" y="1143000"/>
            <a:ext cx="1572768" cy="1325880"/>
          </a:xfrm>
          <a:prstGeom prst="rect">
            <a:avLst/>
          </a:prstGeom>
          <a:solidFill>
            <a:srgbClr val="132233"/>
          </a:solidFill>
          <a:ln w="19050">
            <a:solidFill>
              <a:srgbClr val="48BB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1207008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8BB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LCD Update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48BB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PB4–PB9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40680" y="1828800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 % + pump state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013448" y="1801368"/>
            <a:ext cx="164592" cy="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78040" y="1143000"/>
            <a:ext cx="1572768" cy="1325880"/>
          </a:xfrm>
          <a:prstGeom prst="rect">
            <a:avLst/>
          </a:prstGeom>
          <a:solidFill>
            <a:srgbClr val="132233"/>
          </a:solidFill>
          <a:ln w="190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8040" y="1207008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UART Print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BD5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115200 baud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78040" y="1828800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ADC, moisture, threshold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2788920"/>
            <a:ext cx="3657600" cy="1280160"/>
          </a:xfrm>
          <a:prstGeom prst="rect">
            <a:avLst/>
          </a:prstGeom>
          <a:solidFill>
            <a:srgbClr val="132233"/>
          </a:solidFill>
          <a:ln w="19050">
            <a:solidFill>
              <a:srgbClr val="FC81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8529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81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Override (EXTI4 / B1)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3218688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button on PA4 fires a falling-edge interrupt. A 300ms software debounce prevents bounce triggering. Sets manualOverride flag → pump held ON for 10 seconds.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2788920"/>
            <a:ext cx="4297680" cy="1280160"/>
          </a:xfrm>
          <a:prstGeom prst="rect">
            <a:avLst/>
          </a:prstGeom>
          <a:solidFill>
            <a:srgbClr val="132233"/>
          </a:solidFill>
          <a:ln w="19050">
            <a:solidFill>
              <a:srgbClr val="F6AE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8529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A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Minimum-ON Counter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09160" y="3218688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pump engages, gPumpOnCounter = PUMP_ON_TICKS (2 ticks = 1 second). Counter decrements each evaluation cycle. Relay stays ON until counter reaches 0, then soil is re-evaluated. Prevents rapid relay cycling.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Sensor Calibration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651760" cy="1920240"/>
          </a:xfrm>
          <a:prstGeom prst="rect">
            <a:avLst/>
          </a:prstGeom>
          <a:solidFill>
            <a:srgbClr val="D4921A"/>
          </a:solidFill>
          <a:ln w="12700">
            <a:solidFill>
              <a:srgbClr val="D492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2775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74320" y="20574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ADC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 air)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868680"/>
            <a:ext cx="2651760" cy="192024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00584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1500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200400" y="20574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 ADC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(submerged)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868680"/>
            <a:ext cx="2651760" cy="1920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00584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2138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126480" y="20574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(50% moisture)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3017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Range (0 = wet → 4095 = dry)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8229600" cy="411480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337560"/>
            <a:ext cx="3014505" cy="4114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1705" y="3337560"/>
            <a:ext cx="1282170" cy="41148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3875" y="3337560"/>
            <a:ext cx="1280160" cy="411480"/>
          </a:xfrm>
          <a:prstGeom prst="rect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4035" y="3337560"/>
            <a:ext cx="2652765" cy="411480"/>
          </a:xfrm>
          <a:prstGeom prst="rect">
            <a:avLst/>
          </a:prstGeom>
          <a:solidFill>
            <a:srgbClr val="D4921A"/>
          </a:solidFill>
          <a:ln w="12700">
            <a:solidFill>
              <a:srgbClr val="D492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3875" y="3246120"/>
            <a:ext cx="0" cy="594360"/>
          </a:xfrm>
          <a:prstGeom prst="line">
            <a:avLst/>
          </a:prstGeom>
          <a:noFill/>
          <a:ln w="31750">
            <a:solidFill>
              <a:srgbClr val="0D1B2A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4250955" y="3886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2138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886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  ←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0" y="3886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9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44805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Threshold = DRY − (DRY − WET) × 0.50 = 2775 − 637 = 2138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&amp; Debugging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8686800" cy="868680"/>
          </a:xfrm>
          <a:prstGeom prst="rect">
            <a:avLst/>
          </a:prstGeom>
          <a:solidFill>
            <a:srgbClr val="132233"/>
          </a:solidFill>
          <a:ln w="6350">
            <a:solidFill>
              <a:srgbClr val="2D374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097280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9875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A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Inverted relay logic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77240" y="13716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434840" y="1051560"/>
            <a:ext cx="0" cy="594360"/>
          </a:xfrm>
          <a:prstGeom prst="line">
            <a:avLst/>
          </a:prstGeom>
          <a:noFill/>
          <a:ln w="12700">
            <a:solidFill>
              <a:srgbClr val="2D3748"/>
            </a:solidFill>
            <a:prstDash val="dash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097280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47488" y="100584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Trigger-select switch was set to wrong level. Matched RELAY_ON() macro polarity to module behavior.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28600" y="1920240"/>
            <a:ext cx="8686800" cy="868680"/>
          </a:xfrm>
          <a:prstGeom prst="rect">
            <a:avLst/>
          </a:prstGeom>
          <a:solidFill>
            <a:srgbClr val="132233"/>
          </a:solidFill>
          <a:ln w="6350">
            <a:solidFill>
              <a:srgbClr val="2D3748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103120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7240" y="19933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A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Relay power instability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777240" y="23774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4434840" y="2057400"/>
            <a:ext cx="0" cy="594360"/>
          </a:xfrm>
          <a:prstGeom prst="line">
            <a:avLst/>
          </a:prstGeom>
          <a:noFill/>
          <a:ln w="12700">
            <a:solidFill>
              <a:srgbClr val="2D3748"/>
            </a:solidFill>
            <a:prstDash val="dash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103120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047488" y="201168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Nucleo's USB 5V rail couldn't sustain coil current. Moved relay to a dedicated external 5V supply with shared GND.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228600" y="2926080"/>
            <a:ext cx="8686800" cy="868680"/>
          </a:xfrm>
          <a:prstGeom prst="rect">
            <a:avLst/>
          </a:prstGeom>
          <a:solidFill>
            <a:srgbClr val="132233"/>
          </a:solidFill>
          <a:ln w="6350">
            <a:solidFill>
              <a:srgbClr val="2D3748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3108960"/>
            <a:ext cx="347472" cy="34747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77240" y="29992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A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Double-decrement race condition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777240" y="33832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900" dirty="0"/>
          </a:p>
        </p:txBody>
      </p:sp>
      <p:sp>
        <p:nvSpPr>
          <p:cNvPr id="21" name="Shape 14"/>
          <p:cNvSpPr/>
          <p:nvPr/>
        </p:nvSpPr>
        <p:spPr>
          <a:xfrm>
            <a:off x="4434840" y="3063240"/>
            <a:ext cx="0" cy="594360"/>
          </a:xfrm>
          <a:prstGeom prst="line">
            <a:avLst/>
          </a:prstGeom>
          <a:noFill/>
          <a:ln w="12700">
            <a:solidFill>
              <a:srgbClr val="2D3748"/>
            </a:solidFill>
            <a:prstDash val="dash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3108960"/>
            <a:ext cx="347472" cy="34747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047488" y="301752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was decremented in two places. Consolidated all relay counter logic exclusively inside App_EvaluateRelay().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228600" y="3931920"/>
            <a:ext cx="8686800" cy="868680"/>
          </a:xfrm>
          <a:prstGeom prst="rect">
            <a:avLst/>
          </a:prstGeom>
          <a:solidFill>
            <a:srgbClr val="132233"/>
          </a:solidFill>
          <a:ln w="6350">
            <a:solidFill>
              <a:srgbClr val="2D3748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" y="4114800"/>
            <a:ext cx="347472" cy="34747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77240" y="40050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A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Spurious EXTI triggers (button bounce)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777240" y="43891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900" dirty="0"/>
          </a:p>
        </p:txBody>
      </p:sp>
      <p:sp>
        <p:nvSpPr>
          <p:cNvPr id="28" name="Shape 19"/>
          <p:cNvSpPr/>
          <p:nvPr/>
        </p:nvSpPr>
        <p:spPr>
          <a:xfrm>
            <a:off x="4434840" y="4069080"/>
            <a:ext cx="0" cy="594360"/>
          </a:xfrm>
          <a:prstGeom prst="line">
            <a:avLst/>
          </a:prstGeom>
          <a:noFill/>
          <a:ln w="12700">
            <a:solidFill>
              <a:srgbClr val="2D3748"/>
            </a:solidFill>
            <a:prstDash val="dash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7720" y="4114800"/>
            <a:ext cx="347472" cy="347472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047488" y="402336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300ms software debounce in HAL_GPIO_EXTI_Callback() to block noise-induced override resets.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051560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923544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Sensor Calibration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49808" y="1271016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Dry=2775, Wet=1500 confirmed via PuTTY. Moisture % tracks linearly and updates every 200ms.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4320" y="1636776"/>
            <a:ext cx="859536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856232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9808" y="1728216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LCD Display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49808" y="207568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1: 'Moisture: XX %'  |  Line 2: 'Pump: ON/OFF'. Splash screen on boot, stable 4-bit operation.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74320" y="2441448"/>
            <a:ext cx="859536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660904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9808" y="253288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Relay &amp; Pump Control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749808" y="28803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engages reliably at threshold. Minimum-ON counter prevents cycling. LED mirrors pump state.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274320" y="3246120"/>
            <a:ext cx="859536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3465576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9808" y="3337560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Override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749808" y="368503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PA4 and onboard B1 both trigger 10s override. Debounce prevents false triggers. Confirmed in PuTTY.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274320" y="4050792"/>
            <a:ext cx="859536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4270248"/>
            <a:ext cx="347472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49808" y="4142232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UART Monitoring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749808" y="448970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output: ADC value, moisture %, threshold, pump state — used for live calibration.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Conclusions &amp; Future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4160520" cy="3566160"/>
          </a:xfrm>
          <a:prstGeom prst="rect">
            <a:avLst/>
          </a:prstGeom>
          <a:solidFill>
            <a:srgbClr val="132233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99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4048" y="14630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Inductive loads need isolated power — never share relay coil supply with MCU rails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4048" y="204825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polarity must be verified empirically, not assumed from silkscreen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263347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for stateful hardware prevents race conditions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321868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debounce is essential for EXTI inputs in breadboard environments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380390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Event-queue firmware is modular, readable, and easy to extend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4160520" cy="3566160"/>
          </a:xfrm>
          <a:prstGeom prst="rect">
            <a:avLst/>
          </a:prstGeom>
          <a:solidFill>
            <a:srgbClr val="132233"/>
          </a:solidFill>
          <a:ln w="19050">
            <a:solidFill>
              <a:srgbClr val="F6AE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AE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Improvements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10328" y="14630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calibration values in flash — no reflash needed to adjust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10328" y="204825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hysteresis band to prevent relay chatter near threshold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10328" y="263347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RTC integration for scheduled irrigation time windows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10328" y="321868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upgrade for richer multi-sensor display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10328" y="380390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moisture zone support with independent pump channels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3749040" y="50292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2402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914400" y="3063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Irrigation System  ·  STM32 Nucleo F446RE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371600" y="3611880"/>
            <a:ext cx="3108960" cy="347472"/>
          </a:xfrm>
          <a:prstGeom prst="rect">
            <a:avLst/>
          </a:prstGeom>
          <a:solidFill>
            <a:srgbClr val="132233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1600" y="361188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sensor → pump engages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46320" y="3611880"/>
            <a:ext cx="3108960" cy="347472"/>
          </a:xfrm>
          <a:prstGeom prst="rect">
            <a:avLst/>
          </a:prstGeom>
          <a:solidFill>
            <a:srgbClr val="132233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46320" y="361188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 sensor → pump disengages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371600" y="4069080"/>
            <a:ext cx="3108960" cy="347472"/>
          </a:xfrm>
          <a:prstGeom prst="rect">
            <a:avLst/>
          </a:prstGeom>
          <a:solidFill>
            <a:srgbClr val="132233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71600" y="406908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→ manual override (10s)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46320" y="4069080"/>
            <a:ext cx="3108960" cy="347472"/>
          </a:xfrm>
          <a:prstGeom prst="rect">
            <a:avLst/>
          </a:prstGeom>
          <a:solidFill>
            <a:srgbClr val="132233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46320" y="406908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PuTTY → live ADC readout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Irrigation System</dc:title>
  <dc:subject>PptxGenJS Presentation</dc:subject>
  <dc:creator>PptxGenJS</dc:creator>
  <cp:lastModifiedBy>PptxGenJS</cp:lastModifiedBy>
  <cp:revision>1</cp:revision>
  <dcterms:created xsi:type="dcterms:W3CDTF">2026-04-20T21:30:24Z</dcterms:created>
  <dcterms:modified xsi:type="dcterms:W3CDTF">2026-04-20T21:30:24Z</dcterms:modified>
</cp:coreProperties>
</file>