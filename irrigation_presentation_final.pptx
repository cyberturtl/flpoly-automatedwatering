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1" d="100"/>
          <a:sy n="141" d="100"/>
        </p:scale>
        <p:origin x="74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01613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772400" y="365760"/>
            <a:ext cx="164592" cy="164592"/>
          </a:xfrm>
          <a:prstGeom prst="ellipse">
            <a:avLst/>
          </a:prstGeom>
          <a:solidFill>
            <a:srgbClr val="1B998B">
              <a:alpha val="40000"/>
            </a:srgbClr>
          </a:solidFill>
          <a:ln w="12700">
            <a:solidFill>
              <a:srgbClr val="1B998B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275320" y="365760"/>
            <a:ext cx="164592" cy="164592"/>
          </a:xfrm>
          <a:prstGeom prst="ellipse">
            <a:avLst/>
          </a:prstGeom>
          <a:solidFill>
            <a:srgbClr val="1B998B">
              <a:alpha val="40000"/>
            </a:srgbClr>
          </a:solidFill>
          <a:ln w="12700">
            <a:solidFill>
              <a:srgbClr val="1B998B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778240" y="365760"/>
            <a:ext cx="164592" cy="164592"/>
          </a:xfrm>
          <a:prstGeom prst="ellipse">
            <a:avLst/>
          </a:prstGeom>
          <a:solidFill>
            <a:srgbClr val="1B998B">
              <a:alpha val="40000"/>
            </a:srgbClr>
          </a:solidFill>
          <a:ln w="12700">
            <a:solidFill>
              <a:srgbClr val="1B998B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772400" y="868680"/>
            <a:ext cx="164592" cy="164592"/>
          </a:xfrm>
          <a:prstGeom prst="ellipse">
            <a:avLst/>
          </a:prstGeom>
          <a:solidFill>
            <a:srgbClr val="1B998B">
              <a:alpha val="40000"/>
            </a:srgbClr>
          </a:solidFill>
          <a:ln w="12700">
            <a:solidFill>
              <a:srgbClr val="1B998B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275320" y="868680"/>
            <a:ext cx="164592" cy="164592"/>
          </a:xfrm>
          <a:prstGeom prst="ellipse">
            <a:avLst/>
          </a:prstGeom>
          <a:solidFill>
            <a:srgbClr val="1B998B">
              <a:alpha val="40000"/>
            </a:srgbClr>
          </a:solidFill>
          <a:ln w="12700">
            <a:solidFill>
              <a:srgbClr val="1B998B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778240" y="868680"/>
            <a:ext cx="164592" cy="164592"/>
          </a:xfrm>
          <a:prstGeom prst="ellipse">
            <a:avLst/>
          </a:prstGeom>
          <a:solidFill>
            <a:srgbClr val="1B998B">
              <a:alpha val="40000"/>
            </a:srgbClr>
          </a:solidFill>
          <a:ln w="12700">
            <a:solidFill>
              <a:srgbClr val="1B998B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132320" y="1188720"/>
            <a:ext cx="109728" cy="109728"/>
          </a:xfrm>
          <a:prstGeom prst="ellipse">
            <a:avLst/>
          </a:prstGeom>
          <a:solidFill>
            <a:srgbClr val="2EC4B6">
              <a:alpha val="25000"/>
            </a:srgbClr>
          </a:solidFill>
          <a:ln w="12700">
            <a:solidFill>
              <a:srgbClr val="2EC4B6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635240" y="1188720"/>
            <a:ext cx="109728" cy="109728"/>
          </a:xfrm>
          <a:prstGeom prst="ellipse">
            <a:avLst/>
          </a:prstGeom>
          <a:solidFill>
            <a:srgbClr val="2EC4B6">
              <a:alpha val="25000"/>
            </a:srgbClr>
          </a:solidFill>
          <a:ln w="12700">
            <a:solidFill>
              <a:srgbClr val="2EC4B6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138160" y="1188720"/>
            <a:ext cx="109728" cy="109728"/>
          </a:xfrm>
          <a:prstGeom prst="ellipse">
            <a:avLst/>
          </a:prstGeom>
          <a:solidFill>
            <a:srgbClr val="2EC4B6">
              <a:alpha val="25000"/>
            </a:srgbClr>
          </a:solidFill>
          <a:ln w="12700">
            <a:solidFill>
              <a:srgbClr val="2EC4B6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132320" y="1691640"/>
            <a:ext cx="109728" cy="109728"/>
          </a:xfrm>
          <a:prstGeom prst="ellipse">
            <a:avLst/>
          </a:prstGeom>
          <a:solidFill>
            <a:srgbClr val="2EC4B6">
              <a:alpha val="25000"/>
            </a:srgbClr>
          </a:solidFill>
          <a:ln w="12700">
            <a:solidFill>
              <a:srgbClr val="2EC4B6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635240" y="1691640"/>
            <a:ext cx="109728" cy="109728"/>
          </a:xfrm>
          <a:prstGeom prst="ellipse">
            <a:avLst/>
          </a:prstGeom>
          <a:solidFill>
            <a:srgbClr val="2EC4B6">
              <a:alpha val="25000"/>
            </a:srgbClr>
          </a:solidFill>
          <a:ln w="12700">
            <a:solidFill>
              <a:srgbClr val="2EC4B6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109728" cy="109728"/>
          </a:xfrm>
          <a:prstGeom prst="ellipse">
            <a:avLst/>
          </a:prstGeom>
          <a:solidFill>
            <a:srgbClr val="2EC4B6">
              <a:alpha val="25000"/>
            </a:srgbClr>
          </a:solidFill>
          <a:ln w="12700">
            <a:solidFill>
              <a:srgbClr val="2EC4B6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132320" y="2194560"/>
            <a:ext cx="109728" cy="109728"/>
          </a:xfrm>
          <a:prstGeom prst="ellipse">
            <a:avLst/>
          </a:prstGeom>
          <a:solidFill>
            <a:srgbClr val="2EC4B6">
              <a:alpha val="25000"/>
            </a:srgbClr>
          </a:solidFill>
          <a:ln w="12700">
            <a:solidFill>
              <a:srgbClr val="2EC4B6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635240" y="2194560"/>
            <a:ext cx="109728" cy="109728"/>
          </a:xfrm>
          <a:prstGeom prst="ellipse">
            <a:avLst/>
          </a:prstGeom>
          <a:solidFill>
            <a:srgbClr val="2EC4B6">
              <a:alpha val="25000"/>
            </a:srgbClr>
          </a:solidFill>
          <a:ln w="12700">
            <a:solidFill>
              <a:srgbClr val="2EC4B6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138160" y="2194560"/>
            <a:ext cx="109728" cy="109728"/>
          </a:xfrm>
          <a:prstGeom prst="ellipse">
            <a:avLst/>
          </a:prstGeom>
          <a:solidFill>
            <a:srgbClr val="2EC4B6">
              <a:alpha val="25000"/>
            </a:srgbClr>
          </a:solidFill>
          <a:ln w="12700">
            <a:solidFill>
              <a:srgbClr val="2EC4B6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3">
            <a:alphaModFix amt="80000"/>
          </a:blip>
          <a:stretch>
            <a:fillRect/>
          </a:stretch>
        </p:blipFill>
        <p:spPr>
          <a:xfrm>
            <a:off x="7132320" y="2651760"/>
            <a:ext cx="1463040" cy="146304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411480" y="118872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Automated Irrigation System</a:t>
            </a:r>
            <a:endParaRPr lang="en-US" sz="4000" dirty="0"/>
          </a:p>
        </p:txBody>
      </p:sp>
      <p:sp>
        <p:nvSpPr>
          <p:cNvPr id="20" name="Shape 17"/>
          <p:cNvSpPr/>
          <p:nvPr/>
        </p:nvSpPr>
        <p:spPr>
          <a:xfrm>
            <a:off x="411480" y="2304288"/>
            <a:ext cx="5943600" cy="54864"/>
          </a:xfrm>
          <a:prstGeom prst="rect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411480" y="2468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STM32 Nucleo F446RE  ·  Embedded Systems Final Project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411480" y="3108960"/>
            <a:ext cx="1965960" cy="347472"/>
          </a:xfrm>
          <a:prstGeom prst="roundRect">
            <a:avLst>
              <a:gd name="adj" fmla="val 13158"/>
            </a:avLst>
          </a:prstGeom>
          <a:solidFill>
            <a:srgbClr val="2D3748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411480" y="3108960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Capacitive Sensing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2532888" y="3108960"/>
            <a:ext cx="1965960" cy="347472"/>
          </a:xfrm>
          <a:prstGeom prst="roundRect">
            <a:avLst>
              <a:gd name="adj" fmla="val 13158"/>
            </a:avLst>
          </a:prstGeom>
          <a:solidFill>
            <a:srgbClr val="2D3748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2532888" y="3108960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 Drivers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654296" y="3108960"/>
            <a:ext cx="1965960" cy="347472"/>
          </a:xfrm>
          <a:prstGeom prst="roundRect">
            <a:avLst>
              <a:gd name="adj" fmla="val 13158"/>
            </a:avLst>
          </a:prstGeom>
          <a:solidFill>
            <a:srgbClr val="2D3748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4654296" y="3108960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Interrupt-Driven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11480" y="3611880"/>
            <a:ext cx="1965960" cy="347472"/>
          </a:xfrm>
          <a:prstGeom prst="roundRect">
            <a:avLst>
              <a:gd name="adj" fmla="val 13158"/>
            </a:avLst>
          </a:prstGeom>
          <a:solidFill>
            <a:srgbClr val="2D3748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411480" y="3611880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4-bit LCD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2532888" y="3611880"/>
            <a:ext cx="1965960" cy="347472"/>
          </a:xfrm>
          <a:prstGeom prst="roundRect">
            <a:avLst>
              <a:gd name="adj" fmla="val 13158"/>
            </a:avLst>
          </a:prstGeom>
          <a:solidFill>
            <a:srgbClr val="2D3748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2532888" y="3611880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 Monitor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Overview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40233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4023360" cy="54864"/>
          </a:xfrm>
          <a:prstGeom prst="rect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10515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1508760"/>
            <a:ext cx="37490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irrigation is unreliable and labour-intensive. Overwatering wastes resources and underwatering stresses plants. A smarter, automatic system is needed.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914400"/>
            <a:ext cx="40233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914400"/>
            <a:ext cx="4023360" cy="54864"/>
          </a:xfrm>
          <a:prstGeom prst="rect">
            <a:avLst/>
          </a:prstGeom>
          <a:solidFill>
            <a:srgbClr val="F6AE2D"/>
          </a:solidFill>
          <a:ln w="12700">
            <a:solidFill>
              <a:srgbClr val="F6AE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37760" y="10515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Solution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37760" y="1508760"/>
            <a:ext cx="37490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Continuously monitor soil moisture via a capacitive sensor and automatically engage a 12V pump when moisture drops below a calibrated threshold, with live feedback on an LCD and serial terminal.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Components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74320" y="914400"/>
            <a:ext cx="2743200" cy="1737360"/>
          </a:xfrm>
          <a:prstGeom prst="rect">
            <a:avLst/>
          </a:prstGeom>
          <a:solidFill>
            <a:srgbClr val="132233"/>
          </a:solidFill>
          <a:ln w="19050">
            <a:solidFill>
              <a:srgbClr val="1B99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1298448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24128" y="1170432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STM32 Nucleo F446RE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024128" y="157276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MHz Cortex-M4 MCU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218688" y="914400"/>
            <a:ext cx="2743200" cy="1737360"/>
          </a:xfrm>
          <a:prstGeom prst="rect">
            <a:avLst/>
          </a:prstGeom>
          <a:solidFill>
            <a:srgbClr val="132233"/>
          </a:solidFill>
          <a:ln w="19050">
            <a:solidFill>
              <a:srgbClr val="2EC4B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1298448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968496" y="1170432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Capacitive Soil Sensor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3968496" y="157276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 out → PA0 (ADC1)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6163056" y="914400"/>
            <a:ext cx="2743200" cy="1737360"/>
          </a:xfrm>
          <a:prstGeom prst="rect">
            <a:avLst/>
          </a:prstGeom>
          <a:solidFill>
            <a:srgbClr val="132233"/>
          </a:solidFill>
          <a:ln w="19050">
            <a:solidFill>
              <a:srgbClr val="F6AE2D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7648" y="1298448"/>
            <a:ext cx="502920" cy="5029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912864" y="1170432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Relay Module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6912864" y="157276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6A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5V coil, controls 12V pump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274320" y="2907792"/>
            <a:ext cx="2743200" cy="1737360"/>
          </a:xfrm>
          <a:prstGeom prst="rect">
            <a:avLst/>
          </a:prstGeom>
          <a:solidFill>
            <a:srgbClr val="132233"/>
          </a:solidFill>
          <a:ln w="19050">
            <a:solidFill>
              <a:srgbClr val="48BB7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912" y="3291840"/>
            <a:ext cx="502920" cy="50292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24128" y="3163824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LCD1602 (4-bit)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1024128" y="356616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8B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PB4–PB9, real-time display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3218688" y="2907792"/>
            <a:ext cx="2743200" cy="1737360"/>
          </a:xfrm>
          <a:prstGeom prst="rect">
            <a:avLst/>
          </a:prstGeom>
          <a:solidFill>
            <a:srgbClr val="132233"/>
          </a:solidFill>
          <a:ln w="19050">
            <a:solidFill>
              <a:srgbClr val="FC818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83280" y="3291840"/>
            <a:ext cx="502920" cy="50292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3968496" y="3163824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Manual Override Button</a:t>
            </a:r>
            <a:endParaRPr lang="en-US" sz="1200" dirty="0"/>
          </a:p>
        </p:txBody>
      </p:sp>
      <p:sp>
        <p:nvSpPr>
          <p:cNvPr id="22" name="Text 15"/>
          <p:cNvSpPr/>
          <p:nvPr/>
        </p:nvSpPr>
        <p:spPr>
          <a:xfrm>
            <a:off x="3968496" y="356616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C81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PA4, EXTI4, active-LOW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6163056" y="2907792"/>
            <a:ext cx="2743200" cy="1737360"/>
          </a:xfrm>
          <a:prstGeom prst="rect">
            <a:avLst/>
          </a:prstGeom>
          <a:solidFill>
            <a:srgbClr val="132233"/>
          </a:solidFill>
          <a:ln w="19050">
            <a:solidFill>
              <a:srgbClr val="CBD5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27648" y="3291840"/>
            <a:ext cx="502920" cy="50292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912864" y="3163824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UART Serial Monitor</a:t>
            </a:r>
            <a:endParaRPr lang="en-US" sz="1200" dirty="0"/>
          </a:p>
        </p:txBody>
      </p:sp>
      <p:sp>
        <p:nvSpPr>
          <p:cNvPr id="26" name="Text 18"/>
          <p:cNvSpPr/>
          <p:nvPr/>
        </p:nvSpPr>
        <p:spPr>
          <a:xfrm>
            <a:off x="6912864" y="356616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115200 baud → PuTTY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Wiring &amp; Pin Mapping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1188720" cy="347472"/>
          </a:xfrm>
          <a:prstGeom prst="rect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868680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463040" y="868680"/>
            <a:ext cx="2011680" cy="347472"/>
          </a:xfrm>
          <a:prstGeom prst="rect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463040" y="86868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74720" y="868680"/>
            <a:ext cx="2286000" cy="347472"/>
          </a:xfrm>
          <a:prstGeom prst="rect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474720" y="86868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Connected To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760720" y="868680"/>
            <a:ext cx="2560320" cy="347472"/>
          </a:xfrm>
          <a:prstGeom prst="rect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760720" y="86868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1216152"/>
            <a:ext cx="1188720" cy="420624"/>
          </a:xfrm>
          <a:prstGeom prst="rect">
            <a:avLst/>
          </a:prstGeom>
          <a:solidFill>
            <a:srgbClr val="EBF4F7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74320" y="1216152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463040" y="1216152"/>
            <a:ext cx="2011680" cy="420624"/>
          </a:xfrm>
          <a:prstGeom prst="rect">
            <a:avLst/>
          </a:prstGeom>
          <a:solidFill>
            <a:srgbClr val="EBF4F7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463040" y="1216152"/>
            <a:ext cx="2011680" cy="42062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ADC1_IN0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74720" y="1216152"/>
            <a:ext cx="2286000" cy="420624"/>
          </a:xfrm>
          <a:prstGeom prst="rect">
            <a:avLst/>
          </a:prstGeom>
          <a:solidFill>
            <a:srgbClr val="EBF4F7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474720" y="1216152"/>
            <a:ext cx="2286000" cy="42062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AOUT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760720" y="1216152"/>
            <a:ext cx="2560320" cy="420624"/>
          </a:xfrm>
          <a:prstGeom prst="rect">
            <a:avLst/>
          </a:prstGeom>
          <a:solidFill>
            <a:srgbClr val="EBF4F7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760720" y="1216152"/>
            <a:ext cx="2560320" cy="42062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 Input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1691640"/>
            <a:ext cx="11887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169164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463040" y="1691640"/>
            <a:ext cx="2011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463040" y="1691640"/>
            <a:ext cx="2011680" cy="42062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 IN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474720" y="1691640"/>
            <a:ext cx="22860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474720" y="1691640"/>
            <a:ext cx="2286000" cy="42062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 module IN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760720" y="1691640"/>
            <a:ext cx="2560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760720" y="1691640"/>
            <a:ext cx="2560320" cy="42062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GPIO Output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2167128"/>
            <a:ext cx="1188720" cy="420624"/>
          </a:xfrm>
          <a:prstGeom prst="rect">
            <a:avLst/>
          </a:prstGeom>
          <a:solidFill>
            <a:srgbClr val="EBF4F7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274320" y="2167128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PA4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463040" y="2167128"/>
            <a:ext cx="2011680" cy="420624"/>
          </a:xfrm>
          <a:prstGeom prst="rect">
            <a:avLst/>
          </a:prstGeom>
          <a:solidFill>
            <a:srgbClr val="EBF4F7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463040" y="2167128"/>
            <a:ext cx="2011680" cy="42062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474720" y="2167128"/>
            <a:ext cx="2286000" cy="420624"/>
          </a:xfrm>
          <a:prstGeom prst="rect">
            <a:avLst/>
          </a:prstGeom>
          <a:solidFill>
            <a:srgbClr val="EBF4F7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474720" y="2167128"/>
            <a:ext cx="2286000" cy="42062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Breadboard BTN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760720" y="2167128"/>
            <a:ext cx="2560320" cy="420624"/>
          </a:xfrm>
          <a:prstGeom prst="rect">
            <a:avLst/>
          </a:prstGeom>
          <a:solidFill>
            <a:srgbClr val="EBF4F7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760720" y="2167128"/>
            <a:ext cx="2560320" cy="42062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EXTI4 pull-up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74320" y="2642616"/>
            <a:ext cx="11887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274320" y="2642616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PB4–PB7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463040" y="2642616"/>
            <a:ext cx="2011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1463040" y="2642616"/>
            <a:ext cx="2011680" cy="42062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LCD D4–D7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474720" y="2642616"/>
            <a:ext cx="22860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3474720" y="2642616"/>
            <a:ext cx="2286000" cy="42062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LCD data pins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760720" y="2642616"/>
            <a:ext cx="2560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760720" y="2642616"/>
            <a:ext cx="2560320" cy="42062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GPIO Output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274320" y="3118104"/>
            <a:ext cx="1188720" cy="420624"/>
          </a:xfrm>
          <a:prstGeom prst="rect">
            <a:avLst/>
          </a:prstGeom>
          <a:solidFill>
            <a:srgbClr val="EBF4F7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274320" y="3118104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PB8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463040" y="3118104"/>
            <a:ext cx="2011680" cy="420624"/>
          </a:xfrm>
          <a:prstGeom prst="rect">
            <a:avLst/>
          </a:prstGeom>
          <a:solidFill>
            <a:srgbClr val="EBF4F7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1463040" y="3118104"/>
            <a:ext cx="2011680" cy="42062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LCD RS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3474720" y="3118104"/>
            <a:ext cx="2286000" cy="420624"/>
          </a:xfrm>
          <a:prstGeom prst="rect">
            <a:avLst/>
          </a:prstGeom>
          <a:solidFill>
            <a:srgbClr val="EBF4F7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3474720" y="3118104"/>
            <a:ext cx="2286000" cy="42062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LCD RS pin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5760720" y="3118104"/>
            <a:ext cx="2560320" cy="420624"/>
          </a:xfrm>
          <a:prstGeom prst="rect">
            <a:avLst/>
          </a:prstGeom>
          <a:solidFill>
            <a:srgbClr val="EBF4F7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5760720" y="3118104"/>
            <a:ext cx="2560320" cy="42062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GPIO Output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274320" y="3593592"/>
            <a:ext cx="11887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274320" y="3593592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PB9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1463040" y="3593592"/>
            <a:ext cx="2011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1463040" y="3593592"/>
            <a:ext cx="2011680" cy="42062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LCD EN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3474720" y="3593592"/>
            <a:ext cx="22860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3474720" y="3593592"/>
            <a:ext cx="2286000" cy="42062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LCD EN pin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5760720" y="3593592"/>
            <a:ext cx="2560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5760720" y="3593592"/>
            <a:ext cx="2560320" cy="42062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GPIO Output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274320" y="4069080"/>
            <a:ext cx="1188720" cy="420624"/>
          </a:xfrm>
          <a:prstGeom prst="rect">
            <a:avLst/>
          </a:prstGeom>
          <a:solidFill>
            <a:srgbClr val="EBF4F7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274320" y="406908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PA2/PA3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1463040" y="4069080"/>
            <a:ext cx="2011680" cy="420624"/>
          </a:xfrm>
          <a:prstGeom prst="rect">
            <a:avLst/>
          </a:prstGeom>
          <a:solidFill>
            <a:srgbClr val="EBF4F7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1463040" y="4069080"/>
            <a:ext cx="2011680" cy="42062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UART2 TX/RX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3474720" y="4069080"/>
            <a:ext cx="2286000" cy="420624"/>
          </a:xfrm>
          <a:prstGeom prst="rect">
            <a:avLst/>
          </a:prstGeom>
          <a:solidFill>
            <a:srgbClr val="EBF4F7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3474720" y="4069080"/>
            <a:ext cx="2286000" cy="42062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ST-Link → PC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5760720" y="4069080"/>
            <a:ext cx="2560320" cy="420624"/>
          </a:xfrm>
          <a:prstGeom prst="rect">
            <a:avLst/>
          </a:prstGeom>
          <a:solidFill>
            <a:srgbClr val="EBF4F7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5760720" y="4069080"/>
            <a:ext cx="2560320" cy="42062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115200 baud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5669280" y="868680"/>
            <a:ext cx="3246120" cy="2103120"/>
          </a:xfrm>
          <a:prstGeom prst="rect">
            <a:avLst/>
          </a:prstGeom>
          <a:solidFill>
            <a:srgbClr val="0D1B2A"/>
          </a:solidFill>
          <a:ln w="19050">
            <a:solidFill>
              <a:srgbClr val="1B99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5806440" y="9601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99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 Rails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5806440" y="135331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VCC → Nucleo 3.3V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5806440" y="1746504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 coil → External 5V PSU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5806440" y="2139696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→ External 12V PSU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806440" y="253288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GNDs tied to common rail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274320" y="466344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common ground between all power supplies is critical for signal integrity.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Firmware Architecture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Interrupt-driven event queue — ISR sets flags, main loop processes them in order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28600" y="1143000"/>
            <a:ext cx="1572768" cy="1325880"/>
          </a:xfrm>
          <a:prstGeom prst="rect">
            <a:avLst/>
          </a:prstGeom>
          <a:solidFill>
            <a:srgbClr val="132233"/>
          </a:solidFill>
          <a:ln w="1905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28600" y="1207008"/>
            <a:ext cx="157276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99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TIM2 ISR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B99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(every 200ms)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28600" y="1828800"/>
            <a:ext cx="157276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doAdcRead flag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801368" y="1801368"/>
            <a:ext cx="164592" cy="0"/>
          </a:xfrm>
          <a:prstGeom prst="line">
            <a:avLst/>
          </a:prstGeom>
          <a:noFill/>
          <a:ln w="254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965960" y="1143000"/>
            <a:ext cx="1572768" cy="1325880"/>
          </a:xfrm>
          <a:prstGeom prst="rect">
            <a:avLst/>
          </a:prstGeom>
          <a:solidFill>
            <a:srgbClr val="132233"/>
          </a:solidFill>
          <a:ln w="1905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965960" y="1207008"/>
            <a:ext cx="157276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C4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ADC Sample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2EC4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965960" y="1828800"/>
            <a:ext cx="157276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12-bit, 480-cycle sample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538728" y="1801368"/>
            <a:ext cx="164592" cy="0"/>
          </a:xfrm>
          <a:prstGeom prst="line">
            <a:avLst/>
          </a:prstGeom>
          <a:noFill/>
          <a:ln w="254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703320" y="1143000"/>
            <a:ext cx="1572768" cy="1325880"/>
          </a:xfrm>
          <a:prstGeom prst="rect">
            <a:avLst/>
          </a:prstGeom>
          <a:solidFill>
            <a:srgbClr val="132233"/>
          </a:solidFill>
          <a:ln w="19050">
            <a:solidFill>
              <a:srgbClr val="F6AE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703320" y="1207008"/>
            <a:ext cx="157276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6AE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Relay Eval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6AE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App_EvaluateRelay()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703320" y="1828800"/>
            <a:ext cx="157276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check + counter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276088" y="1801368"/>
            <a:ext cx="164592" cy="0"/>
          </a:xfrm>
          <a:prstGeom prst="line">
            <a:avLst/>
          </a:prstGeom>
          <a:noFill/>
          <a:ln w="254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440680" y="1143000"/>
            <a:ext cx="1572768" cy="1325880"/>
          </a:xfrm>
          <a:prstGeom prst="rect">
            <a:avLst/>
          </a:prstGeom>
          <a:solidFill>
            <a:srgbClr val="132233"/>
          </a:solidFill>
          <a:ln w="19050">
            <a:solidFill>
              <a:srgbClr val="48BB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40680" y="1207008"/>
            <a:ext cx="157276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8B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LCD Update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48B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PB4–PB9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40680" y="1828800"/>
            <a:ext cx="157276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Moisture % + pump state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013448" y="1801368"/>
            <a:ext cx="164592" cy="0"/>
          </a:xfrm>
          <a:prstGeom prst="line">
            <a:avLst/>
          </a:prstGeom>
          <a:noFill/>
          <a:ln w="254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178040" y="1143000"/>
            <a:ext cx="1572768" cy="1325880"/>
          </a:xfrm>
          <a:prstGeom prst="rect">
            <a:avLst/>
          </a:prstGeom>
          <a:solidFill>
            <a:srgbClr val="132233"/>
          </a:solidFill>
          <a:ln w="190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178040" y="1207008"/>
            <a:ext cx="157276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UART Print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CBD5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115200 baud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78040" y="1828800"/>
            <a:ext cx="157276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ADC, moisture, threshold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28600" y="2788920"/>
            <a:ext cx="3657600" cy="1280160"/>
          </a:xfrm>
          <a:prstGeom prst="rect">
            <a:avLst/>
          </a:prstGeom>
          <a:solidFill>
            <a:srgbClr val="132233"/>
          </a:solidFill>
          <a:ln w="19050">
            <a:solidFill>
              <a:srgbClr val="FC81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65760" y="285292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C81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Manual Override (EXTI4 / B1)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65760" y="3218688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button on PA4 fires a falling-edge interrupt. A 300ms software debounce prevents bounce triggering. Sets manualOverride flag → pump held ON for 10 seconds.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0" y="2788920"/>
            <a:ext cx="4297680" cy="1280160"/>
          </a:xfrm>
          <a:prstGeom prst="rect">
            <a:avLst/>
          </a:prstGeom>
          <a:solidFill>
            <a:srgbClr val="132233"/>
          </a:solidFill>
          <a:ln w="19050">
            <a:solidFill>
              <a:srgbClr val="F6AE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709160" y="285292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6AE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Minimum-ON Counter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709160" y="3218688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the pump engages, gPumpOnCounter = PUMP_ON_TICKS (2 ticks = 1 second). Counter decrements each evaluation cycle. Relay stays ON until counter reaches 0, then soil is re-evaluated. Prevents rapid relay cycling.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Sensor Calibration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2651760" cy="1920240"/>
          </a:xfrm>
          <a:prstGeom prst="rect">
            <a:avLst/>
          </a:prstGeom>
          <a:solidFill>
            <a:srgbClr val="D4921A"/>
          </a:solidFill>
          <a:ln w="12700">
            <a:solidFill>
              <a:srgbClr val="D4921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1005840"/>
            <a:ext cx="2651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2775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274320" y="205740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 ADC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(open air)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0" y="868680"/>
            <a:ext cx="2651760" cy="1920240"/>
          </a:xfrm>
          <a:prstGeom prst="rect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0" y="1005840"/>
            <a:ext cx="2651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1500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3200400" y="205740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 ADC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(submerged)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868680"/>
            <a:ext cx="2651760" cy="1920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126480" y="1005840"/>
            <a:ext cx="2651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2138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6126480" y="205740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(50% moisture)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3017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ADC Range (0 = wet → 4095 = dry)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337560"/>
            <a:ext cx="8229600" cy="411480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" y="3337560"/>
            <a:ext cx="3014505" cy="411480"/>
          </a:xfrm>
          <a:prstGeom prst="rect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471705" y="3337560"/>
            <a:ext cx="1282170" cy="41148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53875" y="3337560"/>
            <a:ext cx="1280160" cy="411480"/>
          </a:xfrm>
          <a:prstGeom prst="rect">
            <a:avLst/>
          </a:prstGeom>
          <a:solidFill>
            <a:srgbClr val="F6AE2D"/>
          </a:solidFill>
          <a:ln w="12700">
            <a:solidFill>
              <a:srgbClr val="F6AE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034035" y="3337560"/>
            <a:ext cx="2652765" cy="411480"/>
          </a:xfrm>
          <a:prstGeom prst="rect">
            <a:avLst/>
          </a:prstGeom>
          <a:solidFill>
            <a:srgbClr val="D4921A"/>
          </a:solidFill>
          <a:ln w="12700">
            <a:solidFill>
              <a:srgbClr val="D492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753875" y="3246120"/>
            <a:ext cx="0" cy="594360"/>
          </a:xfrm>
          <a:prstGeom prst="line">
            <a:avLst/>
          </a:prstGeom>
          <a:noFill/>
          <a:ln w="31750">
            <a:solidFill>
              <a:srgbClr val="0D1B2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250955" y="388620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2138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3886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  ←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0" y="3886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9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DRY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74320" y="448056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Formula: Threshold = DRY − (DRY − WET) × 0.50 = 2775 − 637 = 2138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Challenges &amp; Debugging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28600" y="914400"/>
            <a:ext cx="8686800" cy="868680"/>
          </a:xfrm>
          <a:prstGeom prst="rect">
            <a:avLst/>
          </a:prstGeom>
          <a:solidFill>
            <a:srgbClr val="132233"/>
          </a:solidFill>
          <a:ln w="635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097280"/>
            <a:ext cx="347472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987552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6AE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Inverted relay logic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77240" y="13716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434840" y="1051560"/>
            <a:ext cx="0" cy="594360"/>
          </a:xfrm>
          <a:prstGeom prst="line">
            <a:avLst/>
          </a:prstGeom>
          <a:noFill/>
          <a:ln w="12700">
            <a:solidFill>
              <a:srgbClr val="2D374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1097280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47488" y="1005840"/>
            <a:ext cx="3703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Trigger-select switch was set to wrong level. Matched RELAY_ON() macro polarity to module behavior.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28600" y="1920240"/>
            <a:ext cx="8686800" cy="868680"/>
          </a:xfrm>
          <a:prstGeom prst="rect">
            <a:avLst/>
          </a:prstGeom>
          <a:solidFill>
            <a:srgbClr val="132233"/>
          </a:solidFill>
          <a:ln w="635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2103120"/>
            <a:ext cx="347472" cy="34747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77240" y="1993392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6AE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Relay power instability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777240" y="237744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4434840" y="2057400"/>
            <a:ext cx="0" cy="594360"/>
          </a:xfrm>
          <a:prstGeom prst="line">
            <a:avLst/>
          </a:prstGeom>
          <a:noFill/>
          <a:ln w="12700">
            <a:solidFill>
              <a:srgbClr val="2D374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2103120"/>
            <a:ext cx="347472" cy="34747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047488" y="2011680"/>
            <a:ext cx="3703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Nucleo's USB 5V rail couldn't sustain coil current. Moved relay to a dedicated external 5V supply with shared GND.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228600" y="2926080"/>
            <a:ext cx="8686800" cy="868680"/>
          </a:xfrm>
          <a:prstGeom prst="rect">
            <a:avLst/>
          </a:prstGeom>
          <a:solidFill>
            <a:srgbClr val="132233"/>
          </a:solidFill>
          <a:ln w="635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3108960"/>
            <a:ext cx="347472" cy="34747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777240" y="2999232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6AE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Double-decrement race condition</a:t>
            </a:r>
            <a:endParaRPr lang="en-US" sz="1200" dirty="0"/>
          </a:p>
        </p:txBody>
      </p:sp>
      <p:sp>
        <p:nvSpPr>
          <p:cNvPr id="20" name="Text 13"/>
          <p:cNvSpPr/>
          <p:nvPr/>
        </p:nvSpPr>
        <p:spPr>
          <a:xfrm>
            <a:off x="777240" y="33832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</a:t>
            </a:r>
            <a:endParaRPr lang="en-US" sz="900" dirty="0"/>
          </a:p>
        </p:txBody>
      </p:sp>
      <p:sp>
        <p:nvSpPr>
          <p:cNvPr id="21" name="Shape 14"/>
          <p:cNvSpPr/>
          <p:nvPr/>
        </p:nvSpPr>
        <p:spPr>
          <a:xfrm>
            <a:off x="4434840" y="3063240"/>
            <a:ext cx="0" cy="594360"/>
          </a:xfrm>
          <a:prstGeom prst="line">
            <a:avLst/>
          </a:prstGeom>
          <a:noFill/>
          <a:ln w="12700">
            <a:solidFill>
              <a:srgbClr val="2D374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3108960"/>
            <a:ext cx="347472" cy="347472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5047488" y="3017520"/>
            <a:ext cx="3703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 was decremented in two places. Consolidated all relay counter logic exclusively inside App_EvaluateRelay().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228600" y="3931920"/>
            <a:ext cx="8686800" cy="868680"/>
          </a:xfrm>
          <a:prstGeom prst="rect">
            <a:avLst/>
          </a:prstGeom>
          <a:solidFill>
            <a:srgbClr val="132233"/>
          </a:solidFill>
          <a:ln w="635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4114800"/>
            <a:ext cx="347472" cy="34747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777240" y="4005072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6AE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Spurious EXTI triggers (button bounce)</a:t>
            </a:r>
            <a:endParaRPr lang="en-US" sz="1200" dirty="0"/>
          </a:p>
        </p:txBody>
      </p:sp>
      <p:sp>
        <p:nvSpPr>
          <p:cNvPr id="27" name="Text 18"/>
          <p:cNvSpPr/>
          <p:nvPr/>
        </p:nvSpPr>
        <p:spPr>
          <a:xfrm>
            <a:off x="777240" y="43891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</a:t>
            </a:r>
            <a:endParaRPr lang="en-US" sz="900" dirty="0"/>
          </a:p>
        </p:txBody>
      </p:sp>
      <p:sp>
        <p:nvSpPr>
          <p:cNvPr id="28" name="Shape 19"/>
          <p:cNvSpPr/>
          <p:nvPr/>
        </p:nvSpPr>
        <p:spPr>
          <a:xfrm>
            <a:off x="4434840" y="4069080"/>
            <a:ext cx="0" cy="594360"/>
          </a:xfrm>
          <a:prstGeom prst="line">
            <a:avLst/>
          </a:prstGeom>
          <a:noFill/>
          <a:ln w="12700">
            <a:solidFill>
              <a:srgbClr val="2D374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4114800"/>
            <a:ext cx="347472" cy="347472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5047488" y="4023360"/>
            <a:ext cx="3703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300ms software debounce in HAL_GPIO_EXTI_Callback() to block noise-induced override resets.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051560"/>
            <a:ext cx="347472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49808" y="923544"/>
            <a:ext cx="7955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Sensor Calibration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49808" y="1271016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Dry=2775, Wet=1500 confirmed via PuTTY. Moisture % tracks linearly and updates every 200ms.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74320" y="1636776"/>
            <a:ext cx="8595360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856232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49808" y="1728216"/>
            <a:ext cx="7955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LCD Display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749808" y="20756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1: 'Moisture: XX %'  |  Line 2: 'Pump: ON/OFF'. Splash screen on boot, stable 4-bit operation.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274320" y="2441448"/>
            <a:ext cx="8595360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660904"/>
            <a:ext cx="347472" cy="34747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49808" y="2532888"/>
            <a:ext cx="7955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Relay &amp; Pump Control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749808" y="288036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 engages reliably at threshold. Minimum-ON counter prevents cycling. LED mirrors pump state.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274320" y="3246120"/>
            <a:ext cx="8595360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3465576"/>
            <a:ext cx="347472" cy="34747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49808" y="3337560"/>
            <a:ext cx="7955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Manual Override</a:t>
            </a:r>
            <a:endParaRPr lang="en-US" sz="1300" dirty="0"/>
          </a:p>
        </p:txBody>
      </p:sp>
      <p:sp>
        <p:nvSpPr>
          <p:cNvPr id="18" name="Text 12"/>
          <p:cNvSpPr/>
          <p:nvPr/>
        </p:nvSpPr>
        <p:spPr>
          <a:xfrm>
            <a:off x="749808" y="3685032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PA4 and onboard B1 both trigger 10s override. Debounce prevents false triggers. Confirmed in PuTTY.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274320" y="4050792"/>
            <a:ext cx="8595360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4270248"/>
            <a:ext cx="347472" cy="34747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49808" y="4142232"/>
            <a:ext cx="7955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UART Monitoring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749808" y="4489704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output: ADC value, moisture %, threshold, pump state — used for live calibration.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Conclusions &amp; Future Work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28600" y="914400"/>
            <a:ext cx="4160520" cy="3566160"/>
          </a:xfrm>
          <a:prstGeom prst="rect">
            <a:avLst/>
          </a:prstGeom>
          <a:solidFill>
            <a:srgbClr val="132233"/>
          </a:solidFill>
          <a:ln w="1905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84048" y="10241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99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4048" y="14630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Inductive loads need isolated power as to never share relay coil supply with MCU rails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84048" y="2048256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 polarity must be verified empirically, not assumed from silkscreen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84048" y="2633472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source of truth for stateful hardware prevents race conditions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3218688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debounce is essential for EXTI inputs in breadboard environments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84048" y="3803904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Event-queue firmware is modular, readable, and easy to extend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914400"/>
            <a:ext cx="4160520" cy="3566160"/>
          </a:xfrm>
          <a:prstGeom prst="rect">
            <a:avLst/>
          </a:prstGeom>
          <a:solidFill>
            <a:srgbClr val="132233"/>
          </a:solidFill>
          <a:ln w="19050">
            <a:solidFill>
              <a:srgbClr val="F6AE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910328" y="10241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6AE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Improvements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10328" y="14630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6A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calibration values in flash so no reflash needed to adjust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10328" y="2048256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6A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hysteresis band to prevent relay chatter near threshold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10328" y="2633472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6A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RTC integration for scheduled irrigation time windows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10328" y="3218688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6A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OLED upgrade for richer multi-sensor display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10328" y="3803904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6A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moisture zone support with independent pump channels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3749040" y="502920"/>
            <a:ext cx="1645920" cy="1645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224028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</a:t>
            </a:r>
            <a:endParaRPr lang="en-US" sz="5200" dirty="0"/>
          </a:p>
        </p:txBody>
      </p:sp>
      <p:sp>
        <p:nvSpPr>
          <p:cNvPr id="6" name="Text 3"/>
          <p:cNvSpPr/>
          <p:nvPr/>
        </p:nvSpPr>
        <p:spPr>
          <a:xfrm>
            <a:off x="914400" y="3063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Irrigation System  ·  STM32 Nucleo F446RE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1371600" y="3611880"/>
            <a:ext cx="3108960" cy="347472"/>
          </a:xfrm>
          <a:prstGeom prst="rect">
            <a:avLst/>
          </a:prstGeom>
          <a:solidFill>
            <a:srgbClr val="132233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1371600" y="3611880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 sensor → pump engages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46320" y="3611880"/>
            <a:ext cx="3108960" cy="347472"/>
          </a:xfrm>
          <a:prstGeom prst="rect">
            <a:avLst/>
          </a:prstGeom>
          <a:solidFill>
            <a:srgbClr val="132233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846320" y="3611880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 sensor → pump disengages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371600" y="4069080"/>
            <a:ext cx="3108960" cy="347472"/>
          </a:xfrm>
          <a:prstGeom prst="rect">
            <a:avLst/>
          </a:prstGeom>
          <a:solidFill>
            <a:srgbClr val="132233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1371600" y="4069080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 → manual override (10s)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46320" y="4069080"/>
            <a:ext cx="3108960" cy="347472"/>
          </a:xfrm>
          <a:prstGeom prst="rect">
            <a:avLst/>
          </a:prstGeom>
          <a:solidFill>
            <a:srgbClr val="132233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846320" y="4069080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PuTTY → live ADC readout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816</Words>
  <Application>Microsoft Office PowerPoint</Application>
  <PresentationFormat>On-screen Show (16:9)</PresentationFormat>
  <Paragraphs>154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Irrigation System</dc:title>
  <dc:subject>PptxGenJS Presentation</dc:subject>
  <dc:creator>PptxGenJS</dc:creator>
  <cp:lastModifiedBy>Ryan Bezerra</cp:lastModifiedBy>
  <cp:revision>3</cp:revision>
  <dcterms:created xsi:type="dcterms:W3CDTF">2026-04-20T21:30:24Z</dcterms:created>
  <dcterms:modified xsi:type="dcterms:W3CDTF">2026-04-21T23:12:31Z</dcterms:modified>
</cp:coreProperties>
</file>